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-11"/>
          <p:cNvSpPr>
            <a:spLocks noGrp="1"/>
          </p:cNvSpPr>
          <p:nvPr/>
        </p:nvSpPr>
        <p:spPr>
          <a:xfrm>
            <a:off x="236455" y="980849"/>
            <a:ext cx="51016" cy="174912"/>
          </a:xfrm>
          <a:prstGeom prst="rect">
            <a:avLst/>
          </a:prstGeom>
          <a:solidFill>
            <a:srgbClr val="073573"/>
          </a:solidFill>
          <a:ln w="0">
            <a:noFill/>
            <a:prstDash val="solid"/>
          </a:ln>
        </p:spPr>
      </p:sp>
      <p:sp>
        <p:nvSpPr>
          <p:cNvPr id="231" name="text-12"/>
          <p:cNvSpPr>
            <a:spLocks noGrp="1"/>
          </p:cNvSpPr>
          <p:nvPr/>
        </p:nvSpPr>
        <p:spPr>
          <a:xfrm>
            <a:off x="404079" y="915257"/>
            <a:ext cx="2091654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175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65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项目定位与核心理念</a:t>
            </a:r>
            <a:endParaRPr sz="1665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32" name="text-13"/>
          <p:cNvSpPr>
            <a:spLocks noGrp="1"/>
          </p:cNvSpPr>
          <p:nvPr/>
        </p:nvSpPr>
        <p:spPr>
          <a:xfrm>
            <a:off x="2524884" y="944409"/>
            <a:ext cx="9401509" cy="269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57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40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校企共建、需求导向、开放共享、推动科技成果从实验室快速走向产业化，以中试平台带动产业与城市协同发展。</a:t>
            </a:r>
            <a:endParaRPr lang="zh-CN" altLang="en-US" sz="140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shape-14"/>
          <p:cNvSpPr>
            <a:spLocks noGrp="1"/>
          </p:cNvSpPr>
          <p:nvPr/>
        </p:nvSpPr>
        <p:spPr>
          <a:xfrm>
            <a:off x="258319" y="1250115"/>
            <a:ext cx="3060956" cy="298808"/>
          </a:xfrm>
          <a:prstGeom prst="rect">
            <a:avLst/>
          </a:prstGeom>
          <a:solidFill>
            <a:srgbClr val="BCD9EE"/>
          </a:solidFill>
          <a:ln w="0">
            <a:noFill/>
            <a:prstDash val="solid"/>
          </a:ln>
        </p:spPr>
      </p:sp>
      <p:sp>
        <p:nvSpPr>
          <p:cNvPr id="234" name="text-15"/>
          <p:cNvSpPr>
            <a:spLocks noGrp="1"/>
          </p:cNvSpPr>
          <p:nvPr/>
        </p:nvSpPr>
        <p:spPr>
          <a:xfrm>
            <a:off x="258319" y="1250115"/>
            <a:ext cx="3060956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180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基础研究</a:t>
            </a:r>
            <a:endParaRPr sz="1375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35" name="freeform-16"/>
          <p:cNvSpPr>
            <a:spLocks noGrp="1"/>
          </p:cNvSpPr>
          <p:nvPr/>
        </p:nvSpPr>
        <p:spPr>
          <a:xfrm>
            <a:off x="3443171" y="1308419"/>
            <a:ext cx="94744" cy="189488"/>
          </a:xfrm>
          <a:custGeom>
            <a:avLst/>
            <a:gdLst/>
            <a:ahLst/>
            <a:cxnLst/>
            <a:pathLst>
              <a:path w="123825" h="247650">
                <a:moveTo>
                  <a:pt x="0" y="0"/>
                </a:moveTo>
                <a:lnTo>
                  <a:pt x="1238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84A3BD"/>
          </a:solidFill>
          <a:ln w="0">
            <a:noFill/>
            <a:prstDash val="solid"/>
          </a:ln>
        </p:spPr>
      </p:sp>
      <p:sp>
        <p:nvSpPr>
          <p:cNvPr id="236" name="shape-17"/>
          <p:cNvSpPr>
            <a:spLocks noGrp="1"/>
          </p:cNvSpPr>
          <p:nvPr/>
        </p:nvSpPr>
        <p:spPr>
          <a:xfrm>
            <a:off x="3632659" y="1250115"/>
            <a:ext cx="5261930" cy="298808"/>
          </a:xfrm>
          <a:prstGeom prst="rect">
            <a:avLst/>
          </a:prstGeom>
          <a:gradFill>
            <a:gsLst>
              <a:gs pos="0">
                <a:srgbClr val="075398"/>
              </a:gs>
              <a:gs pos="100000">
                <a:srgbClr val="034A86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37" name="text-18"/>
          <p:cNvSpPr>
            <a:spLocks noGrp="1"/>
          </p:cNvSpPr>
          <p:nvPr/>
        </p:nvSpPr>
        <p:spPr>
          <a:xfrm>
            <a:off x="3632659" y="1250115"/>
            <a:ext cx="5261930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技术验证与中试</a:t>
            </a:r>
            <a:endParaRPr sz="1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8" name="freeform-19"/>
          <p:cNvSpPr>
            <a:spLocks noGrp="1"/>
          </p:cNvSpPr>
          <p:nvPr/>
        </p:nvSpPr>
        <p:spPr>
          <a:xfrm>
            <a:off x="9069501" y="1308419"/>
            <a:ext cx="94744" cy="189488"/>
          </a:xfrm>
          <a:custGeom>
            <a:avLst/>
            <a:gdLst/>
            <a:ahLst/>
            <a:cxnLst/>
            <a:pathLst>
              <a:path w="123825" h="247650">
                <a:moveTo>
                  <a:pt x="0" y="0"/>
                </a:moveTo>
                <a:lnTo>
                  <a:pt x="123825" y="123825"/>
                </a:lnTo>
                <a:lnTo>
                  <a:pt x="0" y="247650"/>
                </a:lnTo>
                <a:close/>
              </a:path>
            </a:pathLst>
          </a:custGeom>
          <a:solidFill>
            <a:srgbClr val="84A3BD"/>
          </a:solidFill>
          <a:ln w="0">
            <a:noFill/>
            <a:prstDash val="solid"/>
          </a:ln>
        </p:spPr>
      </p:sp>
      <p:sp>
        <p:nvSpPr>
          <p:cNvPr id="239" name="shape-20"/>
          <p:cNvSpPr>
            <a:spLocks noGrp="1"/>
          </p:cNvSpPr>
          <p:nvPr/>
        </p:nvSpPr>
        <p:spPr>
          <a:xfrm>
            <a:off x="9310004" y="1250115"/>
            <a:ext cx="2630965" cy="298808"/>
          </a:xfrm>
          <a:prstGeom prst="rect">
            <a:avLst/>
          </a:prstGeom>
          <a:solidFill>
            <a:srgbClr val="BCD9EE"/>
          </a:solidFill>
          <a:ln w="0">
            <a:noFill/>
            <a:prstDash val="solid"/>
          </a:ln>
        </p:spPr>
      </p:sp>
      <p:sp>
        <p:nvSpPr>
          <p:cNvPr id="240" name="text-21"/>
          <p:cNvSpPr>
            <a:spLocks noGrp="1"/>
          </p:cNvSpPr>
          <p:nvPr/>
        </p:nvSpPr>
        <p:spPr>
          <a:xfrm>
            <a:off x="9310004" y="1250115"/>
            <a:ext cx="2630965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180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产业化</a:t>
            </a:r>
            <a:endParaRPr sz="1375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pic>
        <p:nvPicPr>
          <p:cNvPr id="241" name="图片 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9" y="1694682"/>
            <a:ext cx="5837681" cy="2426901"/>
          </a:xfrm>
          <a:prstGeom prst="rect">
            <a:avLst/>
          </a:prstGeom>
        </p:spPr>
      </p:pic>
      <p:sp>
        <p:nvSpPr>
          <p:cNvPr id="242" name="shape-22"/>
          <p:cNvSpPr>
            <a:spLocks noGrp="1"/>
          </p:cNvSpPr>
          <p:nvPr/>
        </p:nvSpPr>
        <p:spPr>
          <a:xfrm>
            <a:off x="258319" y="3830064"/>
            <a:ext cx="1413870" cy="291520"/>
          </a:xfrm>
          <a:prstGeom prst="rect">
            <a:avLst/>
          </a:prstGeom>
          <a:solidFill>
            <a:srgbClr val="064E8D"/>
          </a:solidFill>
          <a:ln w="0">
            <a:noFill/>
            <a:prstDash val="solid"/>
          </a:ln>
        </p:spPr>
      </p:sp>
      <p:sp>
        <p:nvSpPr>
          <p:cNvPr id="243" name="text-23"/>
          <p:cNvSpPr>
            <a:spLocks noGrp="1"/>
          </p:cNvSpPr>
          <p:nvPr/>
        </p:nvSpPr>
        <p:spPr>
          <a:xfrm>
            <a:off x="360351" y="3830064"/>
            <a:ext cx="1297262" cy="29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6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AMRC先进制造园</a:t>
            </a:r>
            <a:endParaRPr sz="126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shape-24"/>
          <p:cNvSpPr>
            <a:spLocks noGrp="1"/>
          </p:cNvSpPr>
          <p:nvPr/>
        </p:nvSpPr>
        <p:spPr>
          <a:xfrm>
            <a:off x="6292776" y="1694682"/>
            <a:ext cx="51016" cy="174912"/>
          </a:xfrm>
          <a:prstGeom prst="rect">
            <a:avLst/>
          </a:prstGeom>
          <a:solidFill>
            <a:srgbClr val="073573"/>
          </a:solidFill>
          <a:ln w="0">
            <a:noFill/>
            <a:prstDash val="solid"/>
          </a:ln>
        </p:spPr>
      </p:sp>
      <p:sp>
        <p:nvSpPr>
          <p:cNvPr id="245" name="text-25"/>
          <p:cNvSpPr>
            <a:spLocks noGrp="1"/>
          </p:cNvSpPr>
          <p:nvPr/>
        </p:nvSpPr>
        <p:spPr>
          <a:xfrm>
            <a:off x="6460400" y="1629090"/>
            <a:ext cx="1821998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9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0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三级嵌套空间体系：</a:t>
            </a:r>
            <a:endParaRPr sz="1490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46" name="text-26"/>
          <p:cNvSpPr>
            <a:spLocks noGrp="1"/>
          </p:cNvSpPr>
          <p:nvPr/>
        </p:nvSpPr>
        <p:spPr>
          <a:xfrm>
            <a:off x="8209518" y="1643666"/>
            <a:ext cx="2186397" cy="276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57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5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产城融合、协同发展</a:t>
            </a:r>
            <a:endParaRPr sz="1205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48" name="shape-28"/>
          <p:cNvSpPr>
            <a:spLocks noGrp="1"/>
          </p:cNvSpPr>
          <p:nvPr/>
        </p:nvSpPr>
        <p:spPr>
          <a:xfrm>
            <a:off x="6321928" y="1964338"/>
            <a:ext cx="5619041" cy="2157245"/>
          </a:xfrm>
          <a:prstGeom prst="rect">
            <a:avLst/>
          </a:prstGeom>
          <a:gradFill>
            <a:gsLst>
              <a:gs pos="0">
                <a:srgbClr val="D9F0DE"/>
              </a:gs>
              <a:gs pos="100000">
                <a:srgbClr val="D9EFDF"/>
              </a:gs>
            </a:gsLst>
            <a:lin ang="0"/>
          </a:gradFill>
          <a:ln w="9525">
            <a:solidFill>
              <a:srgbClr val="74C78E"/>
            </a:solidFill>
            <a:prstDash val="solid"/>
          </a:ln>
        </p:spPr>
      </p:sp>
      <p:sp>
        <p:nvSpPr>
          <p:cNvPr id="249" name="shape-29"/>
          <p:cNvSpPr>
            <a:spLocks noGrp="1"/>
          </p:cNvSpPr>
          <p:nvPr/>
        </p:nvSpPr>
        <p:spPr>
          <a:xfrm>
            <a:off x="6474976" y="2627545"/>
            <a:ext cx="5174474" cy="1443022"/>
          </a:xfrm>
          <a:prstGeom prst="rect">
            <a:avLst/>
          </a:prstGeom>
          <a:gradFill>
            <a:gsLst>
              <a:gs pos="0">
                <a:srgbClr val="B8E3BC"/>
              </a:gs>
              <a:gs pos="100000">
                <a:srgbClr val="C5E7CB"/>
              </a:gs>
            </a:gsLst>
            <a:lin ang="0"/>
          </a:gradFill>
          <a:ln w="9525">
            <a:solidFill>
              <a:srgbClr val="6CC98B"/>
            </a:solidFill>
            <a:prstDash val="solid"/>
          </a:ln>
        </p:spPr>
      </p:sp>
      <p:sp>
        <p:nvSpPr>
          <p:cNvPr id="250" name="shape-30"/>
          <p:cNvSpPr>
            <a:spLocks noGrp="1"/>
          </p:cNvSpPr>
          <p:nvPr/>
        </p:nvSpPr>
        <p:spPr>
          <a:xfrm>
            <a:off x="6577007" y="3421936"/>
            <a:ext cx="4941258" cy="626767"/>
          </a:xfrm>
          <a:prstGeom prst="rect">
            <a:avLst/>
          </a:prstGeom>
          <a:gradFill>
            <a:gsLst>
              <a:gs pos="0">
                <a:srgbClr val="8ACB91"/>
              </a:gs>
              <a:gs pos="100000">
                <a:srgbClr val="A4D8AB"/>
              </a:gs>
            </a:gsLst>
            <a:lin ang="0"/>
          </a:gradFill>
          <a:ln w="9525">
            <a:solidFill>
              <a:srgbClr val="66BE7A"/>
            </a:solidFill>
            <a:prstDash val="solid"/>
          </a:ln>
        </p:spPr>
      </p:sp>
      <p:pic>
        <p:nvPicPr>
          <p:cNvPr id="251" name="图片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688" y="2051794"/>
            <a:ext cx="1202519" cy="532023"/>
          </a:xfrm>
          <a:prstGeom prst="rect">
            <a:avLst/>
          </a:prstGeom>
        </p:spPr>
      </p:pic>
      <p:pic>
        <p:nvPicPr>
          <p:cNvPr id="252" name="图片 2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719" y="2707713"/>
            <a:ext cx="1238959" cy="641343"/>
          </a:xfrm>
          <a:prstGeom prst="rect">
            <a:avLst/>
          </a:prstGeom>
        </p:spPr>
      </p:pic>
      <p:pic>
        <p:nvPicPr>
          <p:cNvPr id="253" name="图片 2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887" y="3472952"/>
            <a:ext cx="1355566" cy="539311"/>
          </a:xfrm>
          <a:prstGeom prst="rect">
            <a:avLst/>
          </a:prstGeom>
        </p:spPr>
      </p:pic>
      <p:sp>
        <p:nvSpPr>
          <p:cNvPr id="254" name="text-31"/>
          <p:cNvSpPr>
            <a:spLocks noGrp="1"/>
          </p:cNvSpPr>
          <p:nvPr/>
        </p:nvSpPr>
        <p:spPr>
          <a:xfrm>
            <a:off x="8005454" y="2037218"/>
            <a:ext cx="1202519" cy="4810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250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AMID</a:t>
            </a:r>
            <a:endParaRPr sz="1720" b="1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457200">
              <a:defRPr sz="2250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创新区</a:t>
            </a:r>
            <a:endParaRPr sz="1720" b="1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5" name="text-32"/>
          <p:cNvSpPr>
            <a:spLocks noGrp="1"/>
          </p:cNvSpPr>
          <p:nvPr/>
        </p:nvSpPr>
        <p:spPr>
          <a:xfrm>
            <a:off x="9273564" y="2051794"/>
            <a:ext cx="2405037" cy="255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950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</a:t>
            </a:r>
            <a:r>
              <a:rPr lang="en-US" altLang="zh-CN" sz="149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12140</a:t>
            </a:r>
            <a:r>
              <a:rPr sz="149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亩</a:t>
            </a:r>
            <a:endParaRPr sz="1490" b="1">
              <a:solidFill>
                <a:srgbClr val="007D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6" name="text-33"/>
          <p:cNvSpPr>
            <a:spLocks noGrp="1"/>
          </p:cNvSpPr>
          <p:nvPr/>
        </p:nvSpPr>
        <p:spPr>
          <a:xfrm>
            <a:off x="9273564" y="2292297"/>
            <a:ext cx="2550797" cy="2623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575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5" b="0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跨谢菲尔德、罗瑟勒姆、下唐河谷</a:t>
            </a:r>
            <a:endParaRPr sz="1205" b="0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57" name="text-34"/>
          <p:cNvSpPr>
            <a:spLocks noGrp="1"/>
          </p:cNvSpPr>
          <p:nvPr/>
        </p:nvSpPr>
        <p:spPr>
          <a:xfrm>
            <a:off x="8005454" y="2722289"/>
            <a:ext cx="1370142" cy="524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7505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250" b="1">
                <a:solidFill>
                  <a:srgbClr val="0750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0750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Waverley</a:t>
            </a:r>
            <a:endParaRPr sz="1720" b="1">
              <a:solidFill>
                <a:srgbClr val="0750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457200">
              <a:defRPr sz="2250" b="1">
                <a:solidFill>
                  <a:srgbClr val="07505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0750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片区</a:t>
            </a:r>
            <a:endParaRPr sz="1720" b="1">
              <a:solidFill>
                <a:srgbClr val="0750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text-35"/>
          <p:cNvSpPr>
            <a:spLocks noGrp="1"/>
          </p:cNvSpPr>
          <p:nvPr/>
        </p:nvSpPr>
        <p:spPr>
          <a:xfrm>
            <a:off x="9361020" y="2693137"/>
            <a:ext cx="2113518" cy="276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950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49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4492</a:t>
            </a:r>
            <a:r>
              <a:rPr sz="149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亩</a:t>
            </a:r>
            <a:endParaRPr sz="1490" b="1">
              <a:solidFill>
                <a:srgbClr val="007D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9" name="text-36"/>
          <p:cNvSpPr>
            <a:spLocks noGrp="1"/>
          </p:cNvSpPr>
          <p:nvPr/>
        </p:nvSpPr>
        <p:spPr>
          <a:xfrm>
            <a:off x="9361020" y="2948217"/>
            <a:ext cx="2295717" cy="3935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500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50" b="0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3000套住宅，1700＋套已入住</a:t>
            </a:r>
            <a:endParaRPr sz="1150" b="0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457200">
              <a:defRPr sz="1500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50" b="0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零售中心、小学、300英亩绿地湖泊</a:t>
            </a:r>
            <a:endParaRPr sz="1150" b="0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text-37"/>
          <p:cNvSpPr>
            <a:spLocks noGrp="1"/>
          </p:cNvSpPr>
          <p:nvPr/>
        </p:nvSpPr>
        <p:spPr>
          <a:xfrm>
            <a:off x="8122062" y="3480240"/>
            <a:ext cx="1304550" cy="5101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175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6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</a:t>
            </a:r>
            <a:endParaRPr sz="1665" b="1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457200">
              <a:defRPr sz="2175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6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先进制造园</a:t>
            </a:r>
            <a:endParaRPr sz="1665" b="1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1" name="text-38"/>
          <p:cNvSpPr>
            <a:spLocks noGrp="1"/>
          </p:cNvSpPr>
          <p:nvPr/>
        </p:nvSpPr>
        <p:spPr>
          <a:xfrm>
            <a:off x="9441188" y="3494816"/>
            <a:ext cx="2084366" cy="29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75" b="1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已建</a:t>
            </a:r>
            <a:r>
              <a:rPr lang="en-US" sz="143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sz="143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万＋平方</a:t>
            </a:r>
            <a:r>
              <a:rPr lang="zh-CN" sz="1435" b="1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米</a:t>
            </a:r>
            <a:endParaRPr lang="zh-CN" sz="1435" b="1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text-39"/>
          <p:cNvSpPr>
            <a:spLocks noGrp="1"/>
          </p:cNvSpPr>
          <p:nvPr/>
        </p:nvSpPr>
        <p:spPr>
          <a:xfrm>
            <a:off x="9441188" y="3757184"/>
            <a:ext cx="2113518" cy="24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650" b="0">
                <a:solidFill>
                  <a:srgbClr val="034B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034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就业2500人，满产约4000人</a:t>
            </a:r>
            <a:endParaRPr sz="1260" b="0">
              <a:solidFill>
                <a:srgbClr val="034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3" name="shape-40"/>
          <p:cNvSpPr>
            <a:spLocks noGrp="1"/>
          </p:cNvSpPr>
          <p:nvPr/>
        </p:nvSpPr>
        <p:spPr>
          <a:xfrm>
            <a:off x="258319" y="4223615"/>
            <a:ext cx="3811620" cy="1989622"/>
          </a:xfrm>
          <a:prstGeom prst="rect">
            <a:avLst/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</p:sp>
      <p:sp>
        <p:nvSpPr>
          <p:cNvPr id="264" name="shape-41"/>
          <p:cNvSpPr>
            <a:spLocks noGrp="1"/>
          </p:cNvSpPr>
          <p:nvPr/>
        </p:nvSpPr>
        <p:spPr>
          <a:xfrm>
            <a:off x="258319" y="4223615"/>
            <a:ext cx="3811620" cy="349824"/>
          </a:xfrm>
          <a:prstGeom prst="rect">
            <a:avLst/>
          </a:prstGeom>
          <a:gradFill>
            <a:gsLst>
              <a:gs pos="0">
                <a:srgbClr val="07569B"/>
              </a:gs>
              <a:gs pos="100000">
                <a:srgbClr val="03467D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65" name="text-44"/>
          <p:cNvSpPr>
            <a:spLocks noGrp="1"/>
          </p:cNvSpPr>
          <p:nvPr/>
        </p:nvSpPr>
        <p:spPr>
          <a:xfrm>
            <a:off x="826782" y="4238191"/>
            <a:ext cx="3170276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需求治理｜企业“出钱＋投票”定方向</a:t>
            </a:r>
            <a:endParaRPr sz="1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6" name="shape-45"/>
          <p:cNvSpPr>
            <a:spLocks noGrp="1"/>
          </p:cNvSpPr>
          <p:nvPr/>
        </p:nvSpPr>
        <p:spPr>
          <a:xfrm>
            <a:off x="4201122" y="4223615"/>
            <a:ext cx="3811620" cy="1989622"/>
          </a:xfrm>
          <a:prstGeom prst="rect">
            <a:avLst/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</p:sp>
      <p:sp>
        <p:nvSpPr>
          <p:cNvPr id="267" name="shape-46"/>
          <p:cNvSpPr>
            <a:spLocks noGrp="1"/>
          </p:cNvSpPr>
          <p:nvPr/>
        </p:nvSpPr>
        <p:spPr>
          <a:xfrm>
            <a:off x="4201122" y="4223615"/>
            <a:ext cx="3811620" cy="349824"/>
          </a:xfrm>
          <a:prstGeom prst="rect">
            <a:avLst/>
          </a:prstGeom>
          <a:gradFill>
            <a:gsLst>
              <a:gs pos="0">
                <a:srgbClr val="07569B"/>
              </a:gs>
              <a:gs pos="100000">
                <a:srgbClr val="03467D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68" name="text-49"/>
          <p:cNvSpPr>
            <a:spLocks noGrp="1"/>
          </p:cNvSpPr>
          <p:nvPr/>
        </p:nvSpPr>
        <p:spPr>
          <a:xfrm>
            <a:off x="4769586" y="4238191"/>
            <a:ext cx="3170276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重资产共享｜把“工厂”做成公共平台</a:t>
            </a:r>
            <a:endParaRPr sz="1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9" name="shape-50"/>
          <p:cNvSpPr>
            <a:spLocks noGrp="1"/>
          </p:cNvSpPr>
          <p:nvPr/>
        </p:nvSpPr>
        <p:spPr>
          <a:xfrm>
            <a:off x="8129350" y="4223615"/>
            <a:ext cx="3811620" cy="1989622"/>
          </a:xfrm>
          <a:prstGeom prst="rect">
            <a:avLst/>
          </a:prstGeom>
          <a:solidFill>
            <a:srgbClr val="FFFFFF"/>
          </a:solidFill>
          <a:ln w="9525">
            <a:solidFill>
              <a:srgbClr val="BBD4E7"/>
            </a:solidFill>
            <a:prstDash val="solid"/>
          </a:ln>
        </p:spPr>
      </p:sp>
      <p:sp>
        <p:nvSpPr>
          <p:cNvPr id="270" name="shape-51"/>
          <p:cNvSpPr>
            <a:spLocks noGrp="1"/>
          </p:cNvSpPr>
          <p:nvPr/>
        </p:nvSpPr>
        <p:spPr>
          <a:xfrm>
            <a:off x="8129350" y="4223615"/>
            <a:ext cx="3811620" cy="349824"/>
          </a:xfrm>
          <a:prstGeom prst="rect">
            <a:avLst/>
          </a:prstGeom>
          <a:gradFill>
            <a:gsLst>
              <a:gs pos="0">
                <a:srgbClr val="07569B"/>
              </a:gs>
              <a:gs pos="100000">
                <a:srgbClr val="03467D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271" name="shape-52"/>
          <p:cNvSpPr>
            <a:spLocks noGrp="1"/>
          </p:cNvSpPr>
          <p:nvPr/>
        </p:nvSpPr>
        <p:spPr>
          <a:xfrm>
            <a:off x="8202230" y="4260055"/>
            <a:ext cx="335248" cy="26965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2" name="text-53"/>
          <p:cNvSpPr>
            <a:spLocks noGrp="1"/>
          </p:cNvSpPr>
          <p:nvPr/>
        </p:nvSpPr>
        <p:spPr>
          <a:xfrm>
            <a:off x="8202230" y="4252767"/>
            <a:ext cx="335248" cy="276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3</a:t>
            </a:r>
            <a:endParaRPr sz="1720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73" name="text-54"/>
          <p:cNvSpPr>
            <a:spLocks noGrp="1"/>
          </p:cNvSpPr>
          <p:nvPr/>
        </p:nvSpPr>
        <p:spPr>
          <a:xfrm>
            <a:off x="8697813" y="4238191"/>
            <a:ext cx="3170276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三类研发｜兼顾公共</a:t>
            </a:r>
            <a:r>
              <a:rPr lang="zh-CN"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平台</a:t>
            </a:r>
            <a:r>
              <a:rPr sz="13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与企业专属</a:t>
            </a:r>
            <a:endParaRPr sz="13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74" name="text-55"/>
          <p:cNvSpPr>
            <a:spLocks noGrp="1"/>
          </p:cNvSpPr>
          <p:nvPr/>
        </p:nvSpPr>
        <p:spPr>
          <a:xfrm>
            <a:off x="651870" y="4646319"/>
            <a:ext cx="3279596" cy="269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一级会员：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20万</a:t>
            </a: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英镑/年，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30余家</a:t>
            </a:r>
            <a:endParaRPr sz="1375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5" name="text-56"/>
          <p:cNvSpPr>
            <a:spLocks noGrp="1"/>
          </p:cNvSpPr>
          <p:nvPr/>
        </p:nvSpPr>
        <p:spPr>
          <a:xfrm>
            <a:off x="651870" y="4908686"/>
            <a:ext cx="3279596" cy="269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二级会员：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3万</a:t>
            </a: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英镑/年，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80余家</a:t>
            </a:r>
            <a:endParaRPr sz="1375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text-57"/>
          <p:cNvSpPr>
            <a:spLocks noGrp="1"/>
          </p:cNvSpPr>
          <p:nvPr/>
        </p:nvSpPr>
        <p:spPr>
          <a:xfrm>
            <a:off x="651870" y="5273086"/>
            <a:ext cx="3301460" cy="24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波音、空客、劳斯莱斯、西门子等参与</a:t>
            </a:r>
            <a:endParaRPr sz="132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77" name="text-58"/>
          <p:cNvSpPr>
            <a:spLocks noGrp="1"/>
          </p:cNvSpPr>
          <p:nvPr/>
        </p:nvSpPr>
        <p:spPr>
          <a:xfrm>
            <a:off x="651870" y="5520878"/>
            <a:ext cx="3286884" cy="24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一级会员各1席，二级会员共</a:t>
            </a:r>
            <a:r>
              <a:rPr sz="1320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4席</a:t>
            </a:r>
            <a:endParaRPr sz="1320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8" name="text-59"/>
          <p:cNvSpPr>
            <a:spLocks noGrp="1"/>
          </p:cNvSpPr>
          <p:nvPr/>
        </p:nvSpPr>
        <p:spPr>
          <a:xfrm>
            <a:off x="651870" y="5870701"/>
            <a:ext cx="3308748" cy="24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725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2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每年</a:t>
            </a:r>
            <a:r>
              <a:rPr sz="1320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5月、11月</a:t>
            </a:r>
            <a:r>
              <a:rPr sz="132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投票决定研发方向</a:t>
            </a:r>
            <a:endParaRPr sz="132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9" name="text-60"/>
          <p:cNvSpPr>
            <a:spLocks noGrp="1"/>
          </p:cNvSpPr>
          <p:nvPr/>
        </p:nvSpPr>
        <p:spPr>
          <a:xfrm>
            <a:off x="4361458" y="4602591"/>
            <a:ext cx="3374340" cy="225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五大研发中心</a:t>
            </a:r>
            <a:endParaRPr sz="1375" b="1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0" name="text-61"/>
          <p:cNvSpPr>
            <a:spLocks noGrp="1"/>
          </p:cNvSpPr>
          <p:nvPr/>
        </p:nvSpPr>
        <p:spPr>
          <a:xfrm>
            <a:off x="4361458" y="4821230"/>
            <a:ext cx="3425356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复合材料、设计原型、铸件</a:t>
            </a:r>
            <a:endParaRPr sz="126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  <a:p>
            <a:pPr algn="l" defTabSz="457200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先进结构测试、国家金属技术中心</a:t>
            </a:r>
            <a:endParaRPr sz="126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1" name="shape-62"/>
          <p:cNvSpPr>
            <a:spLocks noGrp="1"/>
          </p:cNvSpPr>
          <p:nvPr/>
        </p:nvSpPr>
        <p:spPr>
          <a:xfrm>
            <a:off x="4361458" y="5280374"/>
            <a:ext cx="3483660" cy="73"/>
          </a:xfrm>
          <a:prstGeom prst="line">
            <a:avLst/>
          </a:prstGeom>
          <a:noFill/>
          <a:ln w="9525">
            <a:solidFill>
              <a:srgbClr val="BBD4E7"/>
            </a:solidFill>
            <a:prstDash val="solid"/>
          </a:ln>
        </p:spPr>
      </p:sp>
      <p:sp>
        <p:nvSpPr>
          <p:cNvPr id="282" name="text-63"/>
          <p:cNvSpPr>
            <a:spLocks noGrp="1"/>
          </p:cNvSpPr>
          <p:nvPr/>
        </p:nvSpPr>
        <p:spPr>
          <a:xfrm>
            <a:off x="4361458" y="5294950"/>
            <a:ext cx="2040638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95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Factory 2050</a:t>
            </a:r>
            <a:endParaRPr sz="1375" b="1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3" name="text-64"/>
          <p:cNvSpPr>
            <a:spLocks noGrp="1"/>
          </p:cNvSpPr>
          <p:nvPr/>
        </p:nvSpPr>
        <p:spPr>
          <a:xfrm>
            <a:off x="6744631" y="5294950"/>
            <a:ext cx="1107775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2025" b="1">
                <a:solidFill>
                  <a:srgbClr val="0087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 defTabSz="457200">
              <a:defRPr sz="2025" b="1">
                <a:solidFill>
                  <a:srgbClr val="0087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约7000m²</a:t>
            </a:r>
            <a:endParaRPr sz="1550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text-65"/>
          <p:cNvSpPr>
            <a:spLocks noGrp="1"/>
          </p:cNvSpPr>
          <p:nvPr/>
        </p:nvSpPr>
        <p:spPr>
          <a:xfrm>
            <a:off x="4361458" y="5520878"/>
            <a:ext cx="3410780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开放接入智能工厂试验台</a:t>
            </a:r>
            <a:endParaRPr sz="126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5" name="shape-66"/>
          <p:cNvSpPr>
            <a:spLocks noGrp="1"/>
          </p:cNvSpPr>
          <p:nvPr/>
        </p:nvSpPr>
        <p:spPr>
          <a:xfrm>
            <a:off x="4361458" y="5768669"/>
            <a:ext cx="3483660" cy="73"/>
          </a:xfrm>
          <a:prstGeom prst="line">
            <a:avLst/>
          </a:prstGeom>
          <a:noFill/>
          <a:ln w="9525">
            <a:solidFill>
              <a:srgbClr val="BBD4E7"/>
            </a:solidFill>
            <a:prstDash val="solid"/>
          </a:ln>
        </p:spPr>
      </p:sp>
      <p:sp>
        <p:nvSpPr>
          <p:cNvPr id="286" name="text-67"/>
          <p:cNvSpPr>
            <a:spLocks noGrp="1"/>
          </p:cNvSpPr>
          <p:nvPr/>
        </p:nvSpPr>
        <p:spPr>
          <a:xfrm>
            <a:off x="4361458" y="5790533"/>
            <a:ext cx="2332157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1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劳斯莱斯未来工厂</a:t>
            </a:r>
            <a:endParaRPr sz="1375" b="1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7" name="text-68"/>
          <p:cNvSpPr>
            <a:spLocks noGrp="1"/>
          </p:cNvSpPr>
          <p:nvPr/>
        </p:nvSpPr>
        <p:spPr>
          <a:xfrm>
            <a:off x="6744631" y="5790533"/>
            <a:ext cx="1107775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2025" b="1">
                <a:solidFill>
                  <a:srgbClr val="00874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r" defTabSz="457200">
              <a:defRPr sz="2025" b="1">
                <a:solidFill>
                  <a:srgbClr val="00874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6400m²</a:t>
            </a:r>
            <a:endParaRPr sz="1550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8" name="text-69"/>
          <p:cNvSpPr>
            <a:spLocks noGrp="1"/>
          </p:cNvSpPr>
          <p:nvPr/>
        </p:nvSpPr>
        <p:spPr>
          <a:xfrm>
            <a:off x="4361458" y="6009173"/>
            <a:ext cx="3410780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65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60" b="0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重型中试设施面向会员共享</a:t>
            </a:r>
            <a:endParaRPr sz="1260" b="0">
              <a:solidFill>
                <a:srgbClr val="092C68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89" name="text-70"/>
          <p:cNvSpPr>
            <a:spLocks noGrp="1"/>
          </p:cNvSpPr>
          <p:nvPr/>
        </p:nvSpPr>
        <p:spPr>
          <a:xfrm>
            <a:off x="8354791" y="4755638"/>
            <a:ext cx="3308748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一般性研究：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共享</a:t>
            </a: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公共技术平台</a:t>
            </a:r>
            <a:endParaRPr lang="zh-CN" sz="1375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90" name="text-71"/>
          <p:cNvSpPr>
            <a:spLocks noGrp="1"/>
          </p:cNvSpPr>
          <p:nvPr/>
        </p:nvSpPr>
        <p:spPr>
          <a:xfrm>
            <a:off x="8354791" y="5243934"/>
            <a:ext cx="3308748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特定企业研究：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链主企业，</a:t>
            </a:r>
            <a:r>
              <a:rPr sz="13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延伸布局相关企业</a:t>
            </a:r>
            <a:endParaRPr lang="zh-CN" sz="1375" b="1">
              <a:solidFill>
                <a:srgbClr val="0087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1" name="text-72"/>
          <p:cNvSpPr>
            <a:spLocks noGrp="1"/>
          </p:cNvSpPr>
          <p:nvPr/>
        </p:nvSpPr>
        <p:spPr>
          <a:xfrm>
            <a:off x="8354791" y="5739517"/>
            <a:ext cx="3308748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1800" b="0">
                <a:solidFill>
                  <a:srgbClr val="092C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5" b="1">
                <a:solidFill>
                  <a:srgbClr val="092C68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创新项目：</a:t>
            </a:r>
            <a:r>
              <a:rPr sz="1375" b="1">
                <a:solidFill>
                  <a:srgbClr val="008746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政府资助</a:t>
            </a:r>
            <a:r>
              <a:rPr sz="1375">
                <a:latin typeface="微软雅黑" panose="020B0503020204020204" charset="-122"/>
                <a:ea typeface="微软雅黑" panose="020B0503020204020204" charset="-122"/>
              </a:rPr>
              <a:t>，攻克早期共性技术</a:t>
            </a:r>
            <a:endParaRPr sz="1375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shape-73"/>
          <p:cNvSpPr>
            <a:spLocks noGrp="1"/>
          </p:cNvSpPr>
          <p:nvPr/>
        </p:nvSpPr>
        <p:spPr>
          <a:xfrm>
            <a:off x="258319" y="6293405"/>
            <a:ext cx="8913214" cy="364400"/>
          </a:xfrm>
          <a:prstGeom prst="rect">
            <a:avLst/>
          </a:prstGeom>
          <a:solidFill>
            <a:srgbClr val="CAE3EA"/>
          </a:solidFill>
          <a:ln w="0">
            <a:noFill/>
            <a:prstDash val="solid"/>
          </a:ln>
        </p:spPr>
      </p:sp>
      <p:sp>
        <p:nvSpPr>
          <p:cNvPr id="293" name="shape-74"/>
          <p:cNvSpPr>
            <a:spLocks noGrp="1"/>
          </p:cNvSpPr>
          <p:nvPr/>
        </p:nvSpPr>
        <p:spPr>
          <a:xfrm>
            <a:off x="389503" y="6322557"/>
            <a:ext cx="378976" cy="306096"/>
          </a:xfrm>
          <a:prstGeom prst="rect">
            <a:avLst/>
          </a:prstGeom>
          <a:solidFill>
            <a:srgbClr val="064E8D"/>
          </a:solidFill>
          <a:ln w="0">
            <a:noFill/>
            <a:prstDash val="solid"/>
          </a:ln>
        </p:spPr>
      </p:sp>
      <p:sp>
        <p:nvSpPr>
          <p:cNvPr id="294" name="text-75"/>
          <p:cNvSpPr>
            <a:spLocks noGrp="1"/>
          </p:cNvSpPr>
          <p:nvPr/>
        </p:nvSpPr>
        <p:spPr>
          <a:xfrm>
            <a:off x="389503" y="6315269"/>
            <a:ext cx="378976" cy="3060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4</a:t>
            </a:r>
            <a:endParaRPr sz="172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95" name="text-76"/>
          <p:cNvSpPr>
            <a:spLocks noGrp="1"/>
          </p:cNvSpPr>
          <p:nvPr/>
        </p:nvSpPr>
        <p:spPr>
          <a:xfrm>
            <a:off x="1125590" y="6329845"/>
            <a:ext cx="1260823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64E8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025" b="1">
                <a:solidFill>
                  <a:srgbClr val="064E8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064E8D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多元资金支撑</a:t>
            </a:r>
            <a:endParaRPr sz="1550" b="1">
              <a:solidFill>
                <a:srgbClr val="064E8D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96" name="shape-77"/>
          <p:cNvSpPr>
            <a:spLocks noGrp="1"/>
          </p:cNvSpPr>
          <p:nvPr/>
        </p:nvSpPr>
        <p:spPr>
          <a:xfrm>
            <a:off x="2415564" y="6388149"/>
            <a:ext cx="73" cy="204064"/>
          </a:xfrm>
          <a:prstGeom prst="line">
            <a:avLst/>
          </a:prstGeom>
          <a:noFill/>
          <a:ln w="14288">
            <a:solidFill>
              <a:srgbClr val="064E8D"/>
            </a:solidFill>
            <a:prstDash val="solid"/>
          </a:ln>
        </p:spPr>
      </p:sp>
      <p:sp>
        <p:nvSpPr>
          <p:cNvPr id="297" name="text-78"/>
          <p:cNvSpPr>
            <a:spLocks noGrp="1"/>
          </p:cNvSpPr>
          <p:nvPr/>
        </p:nvSpPr>
        <p:spPr>
          <a:xfrm>
            <a:off x="2554036" y="6329845"/>
            <a:ext cx="6413433" cy="2988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l" defTabSz="457200">
              <a:defRPr sz="2025" b="1">
                <a:solidFill>
                  <a:srgbClr val="007D5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007D51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政府启动＋会员费＋商业合同＋大学投入</a:t>
            </a:r>
            <a:endParaRPr sz="1550" b="1">
              <a:solidFill>
                <a:srgbClr val="007D51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298" name="shape-52"/>
          <p:cNvSpPr>
            <a:spLocks noGrp="1"/>
          </p:cNvSpPr>
          <p:nvPr/>
        </p:nvSpPr>
        <p:spPr>
          <a:xfrm>
            <a:off x="4277889" y="4267343"/>
            <a:ext cx="335248" cy="26965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99" name="text-53"/>
          <p:cNvSpPr>
            <a:spLocks noGrp="1"/>
          </p:cNvSpPr>
          <p:nvPr/>
        </p:nvSpPr>
        <p:spPr>
          <a:xfrm>
            <a:off x="4277889" y="4260055"/>
            <a:ext cx="335248" cy="276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0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2</a:t>
            </a:r>
            <a:endParaRPr lang="en-US" sz="1720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300" name="shape-52"/>
          <p:cNvSpPr>
            <a:spLocks noGrp="1"/>
          </p:cNvSpPr>
          <p:nvPr/>
        </p:nvSpPr>
        <p:spPr>
          <a:xfrm>
            <a:off x="366181" y="4260055"/>
            <a:ext cx="335248" cy="269656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01" name="text-53"/>
          <p:cNvSpPr>
            <a:spLocks noGrp="1"/>
          </p:cNvSpPr>
          <p:nvPr/>
        </p:nvSpPr>
        <p:spPr>
          <a:xfrm>
            <a:off x="366181" y="4252767"/>
            <a:ext cx="335248" cy="2769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algn="ctr" defTabSz="457200">
              <a:defRPr sz="2250" b="1">
                <a:solidFill>
                  <a:srgbClr val="07357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sz="1720" b="1">
                <a:solidFill>
                  <a:srgbClr val="073573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</a:rPr>
              <a:t>1</a:t>
            </a:r>
            <a:endParaRPr lang="en-US" sz="1720" b="1">
              <a:solidFill>
                <a:srgbClr val="073573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2369820" y="279400"/>
            <a:ext cx="9688830" cy="51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0D096">
                    <a:alpha val="18000"/>
                  </a:srgbClr>
                </a:solidFill>
              </a14:hiddenFill>
            </a:ext>
          </a:extLst>
        </p:spPr>
        <p:txBody>
          <a:bodyPr wrap="square" anchor="t">
            <a:spAutoFit/>
          </a:bodyPr>
          <a:p>
            <a:pPr indent="0" defTabSz="457200" fontAlgn="auto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2180" b="1">
                <a:solidFill>
                  <a:srgbClr val="08080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英国谢菲尔德AMRC——以工业需求为导向的先进制造产学研综合体</a:t>
            </a:r>
            <a:endParaRPr lang="zh-CN" altLang="en-US" sz="2180" b="1">
              <a:solidFill>
                <a:srgbClr val="08080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214630" y="322580"/>
            <a:ext cx="1720850" cy="510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40D096">
                    <a:alpha val="18000"/>
                  </a:srgbClr>
                </a:solidFill>
              </a14:hiddenFill>
            </a:ext>
          </a:extLst>
        </p:spPr>
        <p:txBody>
          <a:bodyPr wrap="square" anchor="t">
            <a:spAutoFit/>
          </a:bodyPr>
          <a:p>
            <a:pPr indent="0" defTabSz="457200" fontAlgn="auto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218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Noto Sans CJK SC"/>
                <a:sym typeface="+mn-ea"/>
              </a:rPr>
              <a:t>案例研究</a:t>
            </a:r>
            <a:endParaRPr lang="zh-CN" altLang="en-US" sz="218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Noto Sans CJK SC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WPS 演示</Application>
  <PresentationFormat>宽屏</PresentationFormat>
  <Paragraphs>93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Noto Sans CJK SC</vt:lpstr>
      <vt:lpstr>Noto Sans CJK SC</vt:lpstr>
      <vt:lpstr>Saturday Sans Regular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陈敬男 </cp:lastModifiedBy>
  <cp:revision>157</cp:revision>
  <dcterms:created xsi:type="dcterms:W3CDTF">2019-06-19T02:08:00Z</dcterms:created>
  <dcterms:modified xsi:type="dcterms:W3CDTF">2026-10-28T01:43:52Z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2052-12.1.0.29158</vt:lpwstr>
  </property>
  <property fmtid="{D5CDD505-2E9C-101B-9397-08002B2CF9AE}" pid="3" name="ICV">
    <vt:lpwstr>68164E7EB2824DA6AAE12372ACFA03D5_11</vt:lpwstr>
  </property>
</Properties>
</file>